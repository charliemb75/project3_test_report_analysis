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3" r:id="rId9"/>
    <p:sldId id="262" r:id="rId10"/>
    <p:sldId id="264" r:id="rId1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F7FD"/>
    <a:srgbClr val="DFF4D8"/>
    <a:srgbClr val="FFE7E7"/>
    <a:srgbClr val="F4D8F1"/>
    <a:srgbClr val="FCEDE4"/>
    <a:srgbClr val="D8F3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3" autoAdjust="0"/>
    <p:restoredTop sz="94902" autoAdjust="0"/>
  </p:normalViewPr>
  <p:slideViewPr>
    <p:cSldViewPr snapToGrid="0">
      <p:cViewPr>
        <p:scale>
          <a:sx n="66" d="100"/>
          <a:sy n="66" d="100"/>
        </p:scale>
        <p:origin x="1234" y="2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BF03FD-4881-4714-B1BA-9C7EAF051819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7199D6-BD72-46E5-BF3B-75151E609880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8277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199D6-BD72-46E5-BF3B-75151E609880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38753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A0CB04-669C-2B8C-1C8E-CBEC863CE0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08818A-90BB-7692-D455-EE955186F5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12E3D7-7CB4-9373-5E4C-49933283F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B82B4-8AAD-4379-88D3-83D213C9A67A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F6851C-3641-CE00-7376-72D85A88B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3EA4989-C45C-BC17-BF46-1CE355801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41F91-1B3B-4E0A-A878-80BBDE9EF0D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8962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F5E0F4-C21C-10E4-BE8C-F81A19AAB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6EC311-E0EE-8554-F4AF-BFED3FBC6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C8E56D-55A8-E8DE-EDC5-E9C9906CB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B82B4-8AAD-4379-88D3-83D213C9A67A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36E16E-8DD0-B7F5-0D2A-E1065BEA1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AC4A68-21F5-B449-AA53-BE7D48866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41F91-1B3B-4E0A-A878-80BBDE9EF0D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6529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52B929-2A37-6BC5-A873-BA1600909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B91B646-19C7-CCDD-C0ED-3B1927ABC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A2B437-A573-D74C-FC38-156D2242D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B82B4-8AAD-4379-88D3-83D213C9A67A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72AC446-115E-21E9-71C6-9DCCE9973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CCDB214-C473-DC0B-4977-8ADFD4B33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41F91-1B3B-4E0A-A878-80BBDE9EF0D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3675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3A5B31-B202-BB02-FC6E-D6FBE5001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63D595-2999-5D2C-07DC-EEEA45B3E8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ADA4C8A-6108-31D8-E13D-46AA86FB23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B495993-5709-DF5D-6462-23F0BB015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B82B4-8AAD-4379-88D3-83D213C9A67A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B14AA1-53DE-764B-FC3F-B2083BA89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E9A05EE-6BDF-BD16-075A-532935867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41F91-1B3B-4E0A-A878-80BBDE9EF0D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7706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FD57D1-6911-CF25-A673-6FC486883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795E770-CFB2-FB5D-3BDC-C229832971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91C917A-0C49-A229-9E13-1388C622A5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561710B-EC77-9626-1F9B-3D5290AEDB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9F19100-60F1-FC53-B00F-CFDC62D57D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1EA54BA-758D-58C8-281C-0F85F9CC0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B82B4-8AAD-4379-88D3-83D213C9A67A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5B5DD48-F67E-BFC7-3955-1652F9970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30787E4-64E8-24AA-270A-521350837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41F91-1B3B-4E0A-A878-80BBDE9EF0D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2653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761217-9214-4D2B-C356-458CB91C2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842E845-BF5E-3FE8-7676-89DCF53AC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B82B4-8AAD-4379-88D3-83D213C9A67A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FA1BC01-78D3-60F1-5DDE-1BA9763DF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00EBF65-53FD-72EF-D1A6-6759FC971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41F91-1B3B-4E0A-A878-80BBDE9EF0D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5525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406A58B-0FE2-AF3F-D314-3CCB58530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B82B4-8AAD-4379-88D3-83D213C9A67A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4F7CFFA-FD42-02C7-6992-0355686FD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8153648-60D3-4049-967D-C71F887C2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41F91-1B3B-4E0A-A878-80BBDE9EF0D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9081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4F0B1C-BE3E-432C-5A88-25C2783F2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B9A061-C06D-744B-52CF-7F2416B9F3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08C0E40-4479-022F-7422-2580A708FB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3E25F59-F551-6067-9AAA-50775DE68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B82B4-8AAD-4379-88D3-83D213C9A67A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25151E0-0514-29B0-EA01-FDBBD41D1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1266097-87BF-C3A1-754B-00D7C90DC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41F91-1B3B-4E0A-A878-80BBDE9EF0D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6232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74A6DF-4B81-6542-5207-282F87790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3A96A7E-8CFA-E1F9-083B-3B4A00FAFA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85C5BB6-2756-541B-4551-36CD006904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E457A4E-0E9C-1219-980C-E86E89125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B82B4-8AAD-4379-88D3-83D213C9A67A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C6DAE43-77A7-E492-6570-B462FC1CF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7B7C414-C069-5E4B-8052-F97526F93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41F91-1B3B-4E0A-A878-80BBDE9EF0D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267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0146B8-0CBB-E721-2AAF-CBD87C107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F119108-105A-A95E-FDE7-82A47AFEBB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7DFD3D3-005A-D388-1ADB-228EEBDF6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B82B4-8AAD-4379-88D3-83D213C9A67A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7E32A0-DE08-274E-C51A-C54C0A45C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154998-742A-A16E-12C6-C4A510755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41F91-1B3B-4E0A-A878-80BBDE9EF0D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7271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703BBB8-BEA9-ED28-0AD7-FE574762AA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B42637B-58C8-3DF6-F58E-277088A453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09FAD8-04C2-586D-4CF3-42A3F0520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B82B4-8AAD-4379-88D3-83D213C9A67A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E721A52-9E2A-9BDE-E01B-0B44D8700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E56D8C-9100-5D28-C7F8-292A51C78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41F91-1B3B-4E0A-A878-80BBDE9EF0D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0494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D85C62C-6E7C-17D4-7CA5-9887F5631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9358602-C43D-BF40-B57B-687229A645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29B427-DE5B-5DED-040F-4E211C6740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CB82B4-8AAD-4379-88D3-83D213C9A67A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B7FEA2-8AFC-6A76-533D-A55797FFD3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C7CF99-2486-A186-C855-3D2624FCB9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B41F91-1B3B-4E0A-A878-80BBDE9EF0D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420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EC3E18-6A11-A443-27C7-F787DF626F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Automated processing</a:t>
            </a:r>
            <a:br>
              <a:rPr lang="en-US" noProof="0" dirty="0"/>
            </a:br>
            <a:r>
              <a:rPr lang="en-US" noProof="0" dirty="0"/>
              <a:t>of test results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89DBF38-435F-8A6D-08A2-9E6000082A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Project 3</a:t>
            </a:r>
          </a:p>
          <a:p>
            <a:r>
              <a:rPr lang="en-US" noProof="0" dirty="0"/>
              <a:t>Carlos Martínez Boto</a:t>
            </a:r>
          </a:p>
        </p:txBody>
      </p:sp>
    </p:spTree>
    <p:extLst>
      <p:ext uri="{BB962C8B-B14F-4D97-AF65-F5344CB8AC3E}">
        <p14:creationId xmlns:p14="http://schemas.microsoft.com/office/powerpoint/2010/main" val="459716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F6565C-6C56-788D-2825-66A89F76A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Workflow in my last job</a:t>
            </a:r>
          </a:p>
        </p:txBody>
      </p:sp>
      <p:grpSp>
        <p:nvGrpSpPr>
          <p:cNvPr id="38" name="Grupo 37">
            <a:extLst>
              <a:ext uri="{FF2B5EF4-FFF2-40B4-BE49-F238E27FC236}">
                <a16:creationId xmlns:a16="http://schemas.microsoft.com/office/drawing/2014/main" id="{E0A5E50F-50D4-BDA9-3A30-FDCEBFE7DBAD}"/>
              </a:ext>
            </a:extLst>
          </p:cNvPr>
          <p:cNvGrpSpPr/>
          <p:nvPr/>
        </p:nvGrpSpPr>
        <p:grpSpPr>
          <a:xfrm>
            <a:off x="838200" y="1635760"/>
            <a:ext cx="10515600" cy="1796871"/>
            <a:chOff x="838200" y="1635760"/>
            <a:chExt cx="10515600" cy="1796871"/>
          </a:xfrm>
        </p:grpSpPr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F20E5233-B470-0229-9A03-F56684712EA7}"/>
                </a:ext>
              </a:extLst>
            </p:cNvPr>
            <p:cNvSpPr/>
            <p:nvPr/>
          </p:nvSpPr>
          <p:spPr>
            <a:xfrm>
              <a:off x="838200" y="1635760"/>
              <a:ext cx="1980000" cy="731520"/>
            </a:xfrm>
            <a:prstGeom prst="rect">
              <a:avLst/>
            </a:prstGeom>
            <a:solidFill>
              <a:srgbClr val="FCEDE4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0" dirty="0">
                  <a:solidFill>
                    <a:schemeClr val="accent2"/>
                  </a:solidFill>
                </a:rPr>
                <a:t>Test engineer:</a:t>
              </a:r>
              <a:br>
                <a:rPr lang="en-US" noProof="0" dirty="0">
                  <a:solidFill>
                    <a:schemeClr val="accent2"/>
                  </a:solidFill>
                </a:rPr>
              </a:br>
              <a:r>
                <a:rPr lang="en-US" noProof="0" dirty="0">
                  <a:solidFill>
                    <a:schemeClr val="accent2"/>
                  </a:solidFill>
                </a:rPr>
                <a:t>Organizes a test</a:t>
              </a:r>
            </a:p>
          </p:txBody>
        </p:sp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E5F9B2F3-CCE3-7B54-17B9-1EA002643910}"/>
                </a:ext>
              </a:extLst>
            </p:cNvPr>
            <p:cNvSpPr/>
            <p:nvPr/>
          </p:nvSpPr>
          <p:spPr>
            <a:xfrm>
              <a:off x="3683400" y="1635760"/>
              <a:ext cx="1980000" cy="731520"/>
            </a:xfrm>
            <a:prstGeom prst="rect">
              <a:avLst/>
            </a:prstGeom>
            <a:solidFill>
              <a:srgbClr val="F4D8F1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0" dirty="0">
                  <a:solidFill>
                    <a:srgbClr val="7030A0"/>
                  </a:solidFill>
                </a:rPr>
                <a:t>Service provider:</a:t>
              </a:r>
              <a:br>
                <a:rPr lang="en-US" noProof="0" dirty="0">
                  <a:solidFill>
                    <a:srgbClr val="7030A0"/>
                  </a:solidFill>
                </a:rPr>
              </a:br>
              <a:r>
                <a:rPr lang="en-US" noProof="0" dirty="0">
                  <a:solidFill>
                    <a:srgbClr val="7030A0"/>
                  </a:solidFill>
                </a:rPr>
                <a:t>Executes it</a:t>
              </a:r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F79DBB0D-0E56-EA02-97A7-2F4E787F3833}"/>
                </a:ext>
              </a:extLst>
            </p:cNvPr>
            <p:cNvSpPr/>
            <p:nvPr/>
          </p:nvSpPr>
          <p:spPr>
            <a:xfrm>
              <a:off x="6528600" y="1635760"/>
              <a:ext cx="1980000" cy="731520"/>
            </a:xfrm>
            <a:prstGeom prst="rect">
              <a:avLst/>
            </a:prstGeom>
            <a:solidFill>
              <a:srgbClr val="DFF4D8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0" dirty="0">
                  <a:solidFill>
                    <a:srgbClr val="00B050"/>
                  </a:solidFill>
                </a:rPr>
                <a:t>Technicians:</a:t>
              </a:r>
              <a:br>
                <a:rPr lang="en-US" noProof="0" dirty="0">
                  <a:solidFill>
                    <a:srgbClr val="00B050"/>
                  </a:solidFill>
                </a:rPr>
              </a:br>
              <a:r>
                <a:rPr lang="en-US" noProof="0" dirty="0">
                  <a:solidFill>
                    <a:srgbClr val="00B050"/>
                  </a:solidFill>
                </a:rPr>
                <a:t>Disassembly</a:t>
              </a:r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1D631BB9-C51F-6CF2-8607-71C509C78486}"/>
                </a:ext>
              </a:extLst>
            </p:cNvPr>
            <p:cNvSpPr/>
            <p:nvPr/>
          </p:nvSpPr>
          <p:spPr>
            <a:xfrm>
              <a:off x="9373800" y="1635760"/>
              <a:ext cx="1980000" cy="731520"/>
            </a:xfrm>
            <a:prstGeom prst="rect">
              <a:avLst/>
            </a:prstGeom>
            <a:solidFill>
              <a:srgbClr val="FCEDE4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0" dirty="0">
                  <a:solidFill>
                    <a:schemeClr val="accent2"/>
                  </a:solidFill>
                </a:rPr>
                <a:t>Test engineer:</a:t>
              </a:r>
              <a:br>
                <a:rPr lang="en-US" noProof="0" dirty="0">
                  <a:solidFill>
                    <a:schemeClr val="accent2"/>
                  </a:solidFill>
                </a:rPr>
              </a:br>
              <a:r>
                <a:rPr lang="en-US" noProof="0" dirty="0">
                  <a:solidFill>
                    <a:schemeClr val="accent2"/>
                  </a:solidFill>
                </a:rPr>
                <a:t>Analysis</a:t>
              </a:r>
            </a:p>
          </p:txBody>
        </p:sp>
        <p:cxnSp>
          <p:nvCxnSpPr>
            <p:cNvPr id="10" name="Conector recto de flecha 9">
              <a:extLst>
                <a:ext uri="{FF2B5EF4-FFF2-40B4-BE49-F238E27FC236}">
                  <a16:creationId xmlns:a16="http://schemas.microsoft.com/office/drawing/2014/main" id="{03D6D672-838D-42D9-3BF5-C53D2D9E2CA6}"/>
                </a:ext>
              </a:extLst>
            </p:cNvPr>
            <p:cNvCxnSpPr>
              <a:stCxn id="4" idx="3"/>
              <a:endCxn id="5" idx="1"/>
            </p:cNvCxnSpPr>
            <p:nvPr/>
          </p:nvCxnSpPr>
          <p:spPr>
            <a:xfrm>
              <a:off x="2818200" y="2001520"/>
              <a:ext cx="865200" cy="0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cto de flecha 11">
              <a:extLst>
                <a:ext uri="{FF2B5EF4-FFF2-40B4-BE49-F238E27FC236}">
                  <a16:creationId xmlns:a16="http://schemas.microsoft.com/office/drawing/2014/main" id="{DE4F7DCB-BC96-9499-A9D9-ABDF765C9057}"/>
                </a:ext>
              </a:extLst>
            </p:cNvPr>
            <p:cNvCxnSpPr>
              <a:stCxn id="5" idx="3"/>
              <a:endCxn id="7" idx="1"/>
            </p:cNvCxnSpPr>
            <p:nvPr/>
          </p:nvCxnSpPr>
          <p:spPr>
            <a:xfrm>
              <a:off x="5663400" y="2001520"/>
              <a:ext cx="865200" cy="0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cto de flecha 13">
              <a:extLst>
                <a:ext uri="{FF2B5EF4-FFF2-40B4-BE49-F238E27FC236}">
                  <a16:creationId xmlns:a16="http://schemas.microsoft.com/office/drawing/2014/main" id="{02F129CB-D7DE-7AE2-FE1E-83BC45BA125A}"/>
                </a:ext>
              </a:extLst>
            </p:cNvPr>
            <p:cNvCxnSpPr>
              <a:stCxn id="7" idx="3"/>
              <a:endCxn id="8" idx="1"/>
            </p:cNvCxnSpPr>
            <p:nvPr/>
          </p:nvCxnSpPr>
          <p:spPr>
            <a:xfrm>
              <a:off x="8508600" y="2001520"/>
              <a:ext cx="865200" cy="0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AA7D57EF-F186-DB7E-C71C-8E2A14264C6A}"/>
                </a:ext>
              </a:extLst>
            </p:cNvPr>
            <p:cNvSpPr txBox="1"/>
            <p:nvPr/>
          </p:nvSpPr>
          <p:spPr>
            <a:xfrm>
              <a:off x="2146555" y="2509301"/>
              <a:ext cx="220849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noProof="0" dirty="0"/>
                <a:t>Test specification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noProof="0" dirty="0"/>
                <a:t>Devices to test</a:t>
              </a:r>
            </a:p>
          </p:txBody>
        </p: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8D015C2B-4DFA-BC73-D46C-2CC2C24B6BEA}"/>
                </a:ext>
              </a:extLst>
            </p:cNvPr>
            <p:cNvSpPr txBox="1"/>
            <p:nvPr/>
          </p:nvSpPr>
          <p:spPr>
            <a:xfrm>
              <a:off x="4991755" y="2509301"/>
              <a:ext cx="196957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noProof="0" dirty="0"/>
                <a:t>Data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noProof="0" dirty="0"/>
                <a:t>Tested devices</a:t>
              </a:r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6DB45AAB-426F-7F55-FA9D-33A8067EE55B}"/>
                </a:ext>
              </a:extLst>
            </p:cNvPr>
            <p:cNvSpPr txBox="1"/>
            <p:nvPr/>
          </p:nvSpPr>
          <p:spPr>
            <a:xfrm>
              <a:off x="8037170" y="2509301"/>
              <a:ext cx="1808059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noProof="0" dirty="0"/>
                <a:t>List of issues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noProof="0" dirty="0"/>
                <a:t>Detail photos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noProof="0" dirty="0"/>
                <a:t>Parts</a:t>
              </a:r>
            </a:p>
          </p:txBody>
        </p:sp>
      </p:grpSp>
      <p:grpSp>
        <p:nvGrpSpPr>
          <p:cNvPr id="40" name="Grupo 39">
            <a:extLst>
              <a:ext uri="{FF2B5EF4-FFF2-40B4-BE49-F238E27FC236}">
                <a16:creationId xmlns:a16="http://schemas.microsoft.com/office/drawing/2014/main" id="{6B40DAAF-46A2-0C06-C236-7589FF31AA44}"/>
              </a:ext>
            </a:extLst>
          </p:cNvPr>
          <p:cNvGrpSpPr/>
          <p:nvPr/>
        </p:nvGrpSpPr>
        <p:grpSpPr>
          <a:xfrm>
            <a:off x="7362339" y="4520475"/>
            <a:ext cx="3472890" cy="731520"/>
            <a:chOff x="7362339" y="4520475"/>
            <a:chExt cx="3472890" cy="731520"/>
          </a:xfrm>
        </p:grpSpPr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AC3344A5-5322-8800-DCD0-97BB865C9120}"/>
                </a:ext>
              </a:extLst>
            </p:cNvPr>
            <p:cNvSpPr/>
            <p:nvPr/>
          </p:nvSpPr>
          <p:spPr>
            <a:xfrm>
              <a:off x="8855229" y="4520475"/>
              <a:ext cx="1980000" cy="731520"/>
            </a:xfrm>
            <a:prstGeom prst="rect">
              <a:avLst/>
            </a:prstGeom>
            <a:solidFill>
              <a:srgbClr val="E7F7FD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0" dirty="0">
                  <a:solidFill>
                    <a:srgbClr val="00B0F0"/>
                  </a:solidFill>
                </a:rPr>
                <a:t>Following design iteration</a:t>
              </a:r>
            </a:p>
          </p:txBody>
        </p:sp>
        <p:sp>
          <p:nvSpPr>
            <p:cNvPr id="30" name="Flecha: a la derecha 29">
              <a:extLst>
                <a:ext uri="{FF2B5EF4-FFF2-40B4-BE49-F238E27FC236}">
                  <a16:creationId xmlns:a16="http://schemas.microsoft.com/office/drawing/2014/main" id="{33E91828-EC13-6497-0C19-8C912FFE64F9}"/>
                </a:ext>
              </a:extLst>
            </p:cNvPr>
            <p:cNvSpPr/>
            <p:nvPr/>
          </p:nvSpPr>
          <p:spPr>
            <a:xfrm>
              <a:off x="7362339" y="4664528"/>
              <a:ext cx="1216549" cy="433254"/>
            </a:xfrm>
            <a:prstGeom prst="rightArrow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8C8F222F-D443-6D07-D861-05A51FA4828F}"/>
              </a:ext>
            </a:extLst>
          </p:cNvPr>
          <p:cNvGrpSpPr/>
          <p:nvPr/>
        </p:nvGrpSpPr>
        <p:grpSpPr>
          <a:xfrm>
            <a:off x="2161094" y="3982720"/>
            <a:ext cx="4924906" cy="2354440"/>
            <a:chOff x="2161094" y="3982720"/>
            <a:chExt cx="4924906" cy="2354440"/>
          </a:xfrm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8E73DBE4-1B95-A461-89B1-944F78D09A9F}"/>
                </a:ext>
              </a:extLst>
            </p:cNvPr>
            <p:cNvSpPr/>
            <p:nvPr/>
          </p:nvSpPr>
          <p:spPr>
            <a:xfrm>
              <a:off x="2260800" y="4515395"/>
              <a:ext cx="1980000" cy="731520"/>
            </a:xfrm>
            <a:prstGeom prst="rect">
              <a:avLst/>
            </a:prstGeom>
            <a:solidFill>
              <a:srgbClr val="FCEDE4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0" dirty="0">
                  <a:solidFill>
                    <a:schemeClr val="accent2"/>
                  </a:solidFill>
                </a:rPr>
                <a:t>Analysis</a:t>
              </a:r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394A80E5-FA33-5BD1-FCDA-E9BBC7279587}"/>
                </a:ext>
              </a:extLst>
            </p:cNvPr>
            <p:cNvSpPr/>
            <p:nvPr/>
          </p:nvSpPr>
          <p:spPr>
            <a:xfrm>
              <a:off x="5105999" y="5048071"/>
              <a:ext cx="1980000" cy="7315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0" dirty="0">
                  <a:solidFill>
                    <a:schemeClr val="tx2"/>
                  </a:solidFill>
                </a:rPr>
                <a:t>Update issues database</a:t>
              </a:r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4353AC12-A5E9-3160-7CB3-FCA8D0D27EA6}"/>
                </a:ext>
              </a:extLst>
            </p:cNvPr>
            <p:cNvSpPr/>
            <p:nvPr/>
          </p:nvSpPr>
          <p:spPr>
            <a:xfrm>
              <a:off x="5106000" y="3982720"/>
              <a:ext cx="1980000" cy="7315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/>
                  </a:solidFill>
                </a:rPr>
                <a:t>Write </a:t>
              </a:r>
              <a:r>
                <a:rPr lang="en-US">
                  <a:solidFill>
                    <a:schemeClr val="tx2"/>
                  </a:solidFill>
                </a:rPr>
                <a:t>test report</a:t>
              </a:r>
              <a:endParaRPr lang="en-US" dirty="0">
                <a:solidFill>
                  <a:schemeClr val="tx2"/>
                </a:solidFill>
              </a:endParaRPr>
            </a:p>
          </p:txBody>
        </p:sp>
        <p:cxnSp>
          <p:nvCxnSpPr>
            <p:cNvPr id="24" name="Conector recto de flecha 23">
              <a:extLst>
                <a:ext uri="{FF2B5EF4-FFF2-40B4-BE49-F238E27FC236}">
                  <a16:creationId xmlns:a16="http://schemas.microsoft.com/office/drawing/2014/main" id="{5C3EAAC1-83B1-86D3-C906-D0E7508B90A5}"/>
                </a:ext>
              </a:extLst>
            </p:cNvPr>
            <p:cNvCxnSpPr>
              <a:cxnSpLocks/>
              <a:stCxn id="18" idx="3"/>
              <a:endCxn id="21" idx="1"/>
            </p:cNvCxnSpPr>
            <p:nvPr/>
          </p:nvCxnSpPr>
          <p:spPr>
            <a:xfrm flipV="1">
              <a:off x="4240800" y="4348480"/>
              <a:ext cx="865200" cy="532675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recto de flecha 26">
              <a:extLst>
                <a:ext uri="{FF2B5EF4-FFF2-40B4-BE49-F238E27FC236}">
                  <a16:creationId xmlns:a16="http://schemas.microsoft.com/office/drawing/2014/main" id="{2CA5A30A-07DE-674E-E920-966F9D54BA72}"/>
                </a:ext>
              </a:extLst>
            </p:cNvPr>
            <p:cNvCxnSpPr>
              <a:cxnSpLocks/>
              <a:stCxn id="18" idx="3"/>
              <a:endCxn id="20" idx="1"/>
            </p:cNvCxnSpPr>
            <p:nvPr/>
          </p:nvCxnSpPr>
          <p:spPr>
            <a:xfrm>
              <a:off x="4240800" y="4881155"/>
              <a:ext cx="865199" cy="532676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5FA9D9D8-257A-3F76-8F9E-DD3C7798436B}"/>
                </a:ext>
              </a:extLst>
            </p:cNvPr>
            <p:cNvSpPr txBox="1"/>
            <p:nvPr/>
          </p:nvSpPr>
          <p:spPr>
            <a:xfrm>
              <a:off x="2161094" y="5413830"/>
              <a:ext cx="2351349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noProof="0" dirty="0"/>
                <a:t>Causes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noProof="0" dirty="0"/>
                <a:t>Consequences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noProof="0" dirty="0"/>
                <a:t>Possible measures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25714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27F043-CCA2-0395-2842-0D71AC4FF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Problem with this manual workflow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55B768-4897-7C15-228B-31DBFE0EA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Issues not consistently described</a:t>
            </a:r>
          </a:p>
          <a:p>
            <a:pPr lvl="1"/>
            <a:r>
              <a:rPr lang="en-US" noProof="0" dirty="0"/>
              <a:t>Examples:</a:t>
            </a:r>
          </a:p>
          <a:p>
            <a:pPr lvl="2"/>
            <a:r>
              <a:rPr lang="en-US" noProof="0" dirty="0"/>
              <a:t>Use of unspecific terms: “damage”, “stains”</a:t>
            </a:r>
          </a:p>
          <a:p>
            <a:pPr lvl="2"/>
            <a:r>
              <a:rPr lang="en-US" noProof="0" dirty="0"/>
              <a:t>Use of synonyms: “rust” and “corrosion”</a:t>
            </a:r>
          </a:p>
          <a:p>
            <a:pPr lvl="2"/>
            <a:r>
              <a:rPr lang="en-US" noProof="0" dirty="0"/>
              <a:t>Different wordings: “corrosion on part X” or “part X presents corrosion”</a:t>
            </a:r>
          </a:p>
          <a:p>
            <a:pPr lvl="1"/>
            <a:r>
              <a:rPr lang="en-US" noProof="0" dirty="0"/>
              <a:t>Difficult to check if an issue was already known</a:t>
            </a:r>
          </a:p>
          <a:p>
            <a:pPr lvl="1"/>
            <a:r>
              <a:rPr lang="en-US" noProof="0" dirty="0"/>
              <a:t>Duplicates or inefficient manual search</a:t>
            </a:r>
          </a:p>
          <a:p>
            <a:r>
              <a:rPr lang="en-US" noProof="0" dirty="0"/>
              <a:t>Risk: loss of information</a:t>
            </a:r>
          </a:p>
        </p:txBody>
      </p:sp>
    </p:spTree>
    <p:extLst>
      <p:ext uri="{BB962C8B-B14F-4D97-AF65-F5344CB8AC3E}">
        <p14:creationId xmlns:p14="http://schemas.microsoft.com/office/powerpoint/2010/main" val="3568406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9370BA-5F94-9B2F-E1F0-B18C8AE83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Automated approach (n8n)</a:t>
            </a:r>
          </a:p>
        </p:txBody>
      </p:sp>
      <p:grpSp>
        <p:nvGrpSpPr>
          <p:cNvPr id="63" name="Grupo 62">
            <a:extLst>
              <a:ext uri="{FF2B5EF4-FFF2-40B4-BE49-F238E27FC236}">
                <a16:creationId xmlns:a16="http://schemas.microsoft.com/office/drawing/2014/main" id="{633D3A03-6917-84C9-9A41-B27340B71A9B}"/>
              </a:ext>
            </a:extLst>
          </p:cNvPr>
          <p:cNvGrpSpPr/>
          <p:nvPr/>
        </p:nvGrpSpPr>
        <p:grpSpPr>
          <a:xfrm>
            <a:off x="838200" y="2743086"/>
            <a:ext cx="4825200" cy="1796871"/>
            <a:chOff x="838200" y="2743086"/>
            <a:chExt cx="4825200" cy="1796871"/>
          </a:xfrm>
        </p:grpSpPr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E8E0411D-04E6-08BB-BAFE-C3AE3E6C72C5}"/>
                </a:ext>
              </a:extLst>
            </p:cNvPr>
            <p:cNvSpPr/>
            <p:nvPr/>
          </p:nvSpPr>
          <p:spPr>
            <a:xfrm>
              <a:off x="838200" y="3275761"/>
              <a:ext cx="1980000" cy="7315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0" dirty="0">
                  <a:solidFill>
                    <a:schemeClr val="tx1"/>
                  </a:solidFill>
                </a:rPr>
                <a:t>E-Mail</a:t>
              </a:r>
            </a:p>
          </p:txBody>
        </p:sp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C7569414-7C8E-9596-D53A-B95B5ACDBC6B}"/>
                </a:ext>
              </a:extLst>
            </p:cNvPr>
            <p:cNvSpPr/>
            <p:nvPr/>
          </p:nvSpPr>
          <p:spPr>
            <a:xfrm>
              <a:off x="3683399" y="3808437"/>
              <a:ext cx="1980000" cy="7315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0" dirty="0">
                  <a:solidFill>
                    <a:schemeClr val="tx1"/>
                  </a:solidFill>
                </a:rPr>
                <a:t>Photos</a:t>
              </a:r>
            </a:p>
          </p:txBody>
        </p:sp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EE866F9C-12D1-D589-3693-D32DC3E8B836}"/>
                </a:ext>
              </a:extLst>
            </p:cNvPr>
            <p:cNvSpPr/>
            <p:nvPr/>
          </p:nvSpPr>
          <p:spPr>
            <a:xfrm>
              <a:off x="3683400" y="2743086"/>
              <a:ext cx="1980000" cy="7315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0" dirty="0">
                  <a:solidFill>
                    <a:schemeClr val="tx1"/>
                  </a:solidFill>
                </a:rPr>
                <a:t>List of issues</a:t>
              </a:r>
            </a:p>
          </p:txBody>
        </p:sp>
        <p:cxnSp>
          <p:nvCxnSpPr>
            <p:cNvPr id="26" name="Conector recto de flecha 25">
              <a:extLst>
                <a:ext uri="{FF2B5EF4-FFF2-40B4-BE49-F238E27FC236}">
                  <a16:creationId xmlns:a16="http://schemas.microsoft.com/office/drawing/2014/main" id="{BFB35743-8E3D-ADA9-B800-17303DFB3970}"/>
                </a:ext>
              </a:extLst>
            </p:cNvPr>
            <p:cNvCxnSpPr>
              <a:cxnSpLocks/>
              <a:stCxn id="23" idx="3"/>
              <a:endCxn id="25" idx="1"/>
            </p:cNvCxnSpPr>
            <p:nvPr/>
          </p:nvCxnSpPr>
          <p:spPr>
            <a:xfrm flipV="1">
              <a:off x="2818200" y="3108846"/>
              <a:ext cx="865200" cy="532675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recto de flecha 26">
              <a:extLst>
                <a:ext uri="{FF2B5EF4-FFF2-40B4-BE49-F238E27FC236}">
                  <a16:creationId xmlns:a16="http://schemas.microsoft.com/office/drawing/2014/main" id="{E147C559-EB0F-E59D-B8C8-8E6BC29D554B}"/>
                </a:ext>
              </a:extLst>
            </p:cNvPr>
            <p:cNvCxnSpPr>
              <a:cxnSpLocks/>
              <a:stCxn id="23" idx="3"/>
              <a:endCxn id="24" idx="1"/>
            </p:cNvCxnSpPr>
            <p:nvPr/>
          </p:nvCxnSpPr>
          <p:spPr>
            <a:xfrm>
              <a:off x="2818200" y="3641521"/>
              <a:ext cx="865199" cy="532676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Grupo 63">
            <a:extLst>
              <a:ext uri="{FF2B5EF4-FFF2-40B4-BE49-F238E27FC236}">
                <a16:creationId xmlns:a16="http://schemas.microsoft.com/office/drawing/2014/main" id="{8723AFAE-6AA7-9339-40A3-031201C8CC21}"/>
              </a:ext>
            </a:extLst>
          </p:cNvPr>
          <p:cNvGrpSpPr/>
          <p:nvPr/>
        </p:nvGrpSpPr>
        <p:grpSpPr>
          <a:xfrm>
            <a:off x="5663400" y="1677735"/>
            <a:ext cx="5690399" cy="2329546"/>
            <a:chOff x="5663400" y="1677735"/>
            <a:chExt cx="5690399" cy="2329546"/>
          </a:xfrm>
        </p:grpSpPr>
        <p:sp>
          <p:nvSpPr>
            <p:cNvPr id="33" name="Rectángulo 32">
              <a:extLst>
                <a:ext uri="{FF2B5EF4-FFF2-40B4-BE49-F238E27FC236}">
                  <a16:creationId xmlns:a16="http://schemas.microsoft.com/office/drawing/2014/main" id="{9DB1AFD1-FFE0-817F-82BC-6DDD21C93D02}"/>
                </a:ext>
              </a:extLst>
            </p:cNvPr>
            <p:cNvSpPr/>
            <p:nvPr/>
          </p:nvSpPr>
          <p:spPr>
            <a:xfrm>
              <a:off x="6528599" y="1677735"/>
              <a:ext cx="1980000" cy="731520"/>
            </a:xfrm>
            <a:prstGeom prst="rect">
              <a:avLst/>
            </a:prstGeom>
            <a:solidFill>
              <a:srgbClr val="FCEDE4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0" dirty="0">
                  <a:solidFill>
                    <a:schemeClr val="accent2"/>
                  </a:solidFill>
                </a:rPr>
                <a:t>Database</a:t>
              </a:r>
            </a:p>
          </p:txBody>
        </p:sp>
        <p:sp>
          <p:nvSpPr>
            <p:cNvPr id="35" name="Rectángulo 34">
              <a:extLst>
                <a:ext uri="{FF2B5EF4-FFF2-40B4-BE49-F238E27FC236}">
                  <a16:creationId xmlns:a16="http://schemas.microsoft.com/office/drawing/2014/main" id="{AF8DDD5E-63BE-7B80-4C15-706DD2A6A589}"/>
                </a:ext>
              </a:extLst>
            </p:cNvPr>
            <p:cNvSpPr/>
            <p:nvPr/>
          </p:nvSpPr>
          <p:spPr>
            <a:xfrm>
              <a:off x="6528599" y="2743086"/>
              <a:ext cx="1980000" cy="7315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0" dirty="0">
                  <a:solidFill>
                    <a:schemeClr val="tx1"/>
                  </a:solidFill>
                </a:rPr>
                <a:t>Intelligent comparison</a:t>
              </a:r>
            </a:p>
          </p:txBody>
        </p:sp>
        <p:cxnSp>
          <p:nvCxnSpPr>
            <p:cNvPr id="36" name="Conector recto de flecha 35">
              <a:extLst>
                <a:ext uri="{FF2B5EF4-FFF2-40B4-BE49-F238E27FC236}">
                  <a16:creationId xmlns:a16="http://schemas.microsoft.com/office/drawing/2014/main" id="{591CF135-B5F2-8F18-29A6-1390A8C1D995}"/>
                </a:ext>
              </a:extLst>
            </p:cNvPr>
            <p:cNvCxnSpPr>
              <a:cxnSpLocks/>
              <a:stCxn id="25" idx="3"/>
              <a:endCxn id="35" idx="1"/>
            </p:cNvCxnSpPr>
            <p:nvPr/>
          </p:nvCxnSpPr>
          <p:spPr>
            <a:xfrm>
              <a:off x="5663400" y="3108846"/>
              <a:ext cx="865199" cy="0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de flecha 41">
              <a:extLst>
                <a:ext uri="{FF2B5EF4-FFF2-40B4-BE49-F238E27FC236}">
                  <a16:creationId xmlns:a16="http://schemas.microsoft.com/office/drawing/2014/main" id="{F066F381-4128-BFF9-0F50-0EC1400D5CF4}"/>
                </a:ext>
              </a:extLst>
            </p:cNvPr>
            <p:cNvCxnSpPr>
              <a:cxnSpLocks/>
              <a:stCxn id="33" idx="2"/>
              <a:endCxn id="35" idx="0"/>
            </p:cNvCxnSpPr>
            <p:nvPr/>
          </p:nvCxnSpPr>
          <p:spPr>
            <a:xfrm>
              <a:off x="7518599" y="2409255"/>
              <a:ext cx="0" cy="333831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ectángulo 44">
              <a:extLst>
                <a:ext uri="{FF2B5EF4-FFF2-40B4-BE49-F238E27FC236}">
                  <a16:creationId xmlns:a16="http://schemas.microsoft.com/office/drawing/2014/main" id="{33F7B80E-D1E5-861C-7F77-33A72BEB7A7C}"/>
                </a:ext>
              </a:extLst>
            </p:cNvPr>
            <p:cNvSpPr/>
            <p:nvPr/>
          </p:nvSpPr>
          <p:spPr>
            <a:xfrm>
              <a:off x="9373798" y="3275761"/>
              <a:ext cx="1980000" cy="7315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0" dirty="0">
                  <a:solidFill>
                    <a:schemeClr val="tx1"/>
                  </a:solidFill>
                </a:rPr>
                <a:t>Matches with existing issues</a:t>
              </a:r>
            </a:p>
          </p:txBody>
        </p:sp>
        <p:sp>
          <p:nvSpPr>
            <p:cNvPr id="46" name="Rectángulo 45">
              <a:extLst>
                <a:ext uri="{FF2B5EF4-FFF2-40B4-BE49-F238E27FC236}">
                  <a16:creationId xmlns:a16="http://schemas.microsoft.com/office/drawing/2014/main" id="{EEEFF88E-82A0-55AD-5886-FDF743A501B1}"/>
                </a:ext>
              </a:extLst>
            </p:cNvPr>
            <p:cNvSpPr/>
            <p:nvPr/>
          </p:nvSpPr>
          <p:spPr>
            <a:xfrm>
              <a:off x="9373799" y="2210410"/>
              <a:ext cx="1980000" cy="7315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0" dirty="0">
                  <a:solidFill>
                    <a:schemeClr val="tx1"/>
                  </a:solidFill>
                </a:rPr>
                <a:t>Initialization of true new issues</a:t>
              </a:r>
            </a:p>
          </p:txBody>
        </p:sp>
        <p:cxnSp>
          <p:nvCxnSpPr>
            <p:cNvPr id="47" name="Conector recto de flecha 46">
              <a:extLst>
                <a:ext uri="{FF2B5EF4-FFF2-40B4-BE49-F238E27FC236}">
                  <a16:creationId xmlns:a16="http://schemas.microsoft.com/office/drawing/2014/main" id="{0BAD3A0D-4A24-8528-3A81-EC9512C48AB4}"/>
                </a:ext>
              </a:extLst>
            </p:cNvPr>
            <p:cNvCxnSpPr>
              <a:cxnSpLocks/>
              <a:stCxn id="35" idx="3"/>
              <a:endCxn id="46" idx="1"/>
            </p:cNvCxnSpPr>
            <p:nvPr/>
          </p:nvCxnSpPr>
          <p:spPr>
            <a:xfrm flipV="1">
              <a:off x="8508599" y="2576170"/>
              <a:ext cx="865200" cy="532676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recto de flecha 47">
              <a:extLst>
                <a:ext uri="{FF2B5EF4-FFF2-40B4-BE49-F238E27FC236}">
                  <a16:creationId xmlns:a16="http://schemas.microsoft.com/office/drawing/2014/main" id="{DBCDB373-9861-DF93-8689-1B3F558A19AB}"/>
                </a:ext>
              </a:extLst>
            </p:cNvPr>
            <p:cNvCxnSpPr>
              <a:cxnSpLocks/>
              <a:stCxn id="35" idx="3"/>
              <a:endCxn id="45" idx="1"/>
            </p:cNvCxnSpPr>
            <p:nvPr/>
          </p:nvCxnSpPr>
          <p:spPr>
            <a:xfrm>
              <a:off x="8508599" y="3108846"/>
              <a:ext cx="865199" cy="532675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Grupo 64">
            <a:extLst>
              <a:ext uri="{FF2B5EF4-FFF2-40B4-BE49-F238E27FC236}">
                <a16:creationId xmlns:a16="http://schemas.microsoft.com/office/drawing/2014/main" id="{7FE283F7-3058-661D-2A9B-888988EE3B23}"/>
              </a:ext>
            </a:extLst>
          </p:cNvPr>
          <p:cNvGrpSpPr/>
          <p:nvPr/>
        </p:nvGrpSpPr>
        <p:grpSpPr>
          <a:xfrm>
            <a:off x="5663399" y="3808437"/>
            <a:ext cx="2845200" cy="731520"/>
            <a:chOff x="5663399" y="3808437"/>
            <a:chExt cx="2845200" cy="731520"/>
          </a:xfrm>
        </p:grpSpPr>
        <p:sp>
          <p:nvSpPr>
            <p:cNvPr id="51" name="Rectángulo 50">
              <a:extLst>
                <a:ext uri="{FF2B5EF4-FFF2-40B4-BE49-F238E27FC236}">
                  <a16:creationId xmlns:a16="http://schemas.microsoft.com/office/drawing/2014/main" id="{BF21E302-2C5E-D769-B5B4-BE928AEB0B29}"/>
                </a:ext>
              </a:extLst>
            </p:cNvPr>
            <p:cNvSpPr/>
            <p:nvPr/>
          </p:nvSpPr>
          <p:spPr>
            <a:xfrm>
              <a:off x="6528599" y="3808437"/>
              <a:ext cx="1980000" cy="7315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0" dirty="0">
                  <a:solidFill>
                    <a:schemeClr val="tx1"/>
                  </a:solidFill>
                </a:rPr>
                <a:t>Analysis</a:t>
              </a:r>
            </a:p>
          </p:txBody>
        </p:sp>
        <p:cxnSp>
          <p:nvCxnSpPr>
            <p:cNvPr id="52" name="Conector recto de flecha 51">
              <a:extLst>
                <a:ext uri="{FF2B5EF4-FFF2-40B4-BE49-F238E27FC236}">
                  <a16:creationId xmlns:a16="http://schemas.microsoft.com/office/drawing/2014/main" id="{1E5B64D4-B0C2-8584-8CC9-CBCEE36CAE65}"/>
                </a:ext>
              </a:extLst>
            </p:cNvPr>
            <p:cNvCxnSpPr>
              <a:cxnSpLocks/>
              <a:stCxn id="24" idx="3"/>
              <a:endCxn id="51" idx="1"/>
            </p:cNvCxnSpPr>
            <p:nvPr/>
          </p:nvCxnSpPr>
          <p:spPr>
            <a:xfrm>
              <a:off x="5663399" y="4174197"/>
              <a:ext cx="865200" cy="0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upo 65">
            <a:extLst>
              <a:ext uri="{FF2B5EF4-FFF2-40B4-BE49-F238E27FC236}">
                <a16:creationId xmlns:a16="http://schemas.microsoft.com/office/drawing/2014/main" id="{FAF990FF-758B-E72E-D588-9F7E2B8B192A}"/>
              </a:ext>
            </a:extLst>
          </p:cNvPr>
          <p:cNvGrpSpPr/>
          <p:nvPr/>
        </p:nvGrpSpPr>
        <p:grpSpPr>
          <a:xfrm>
            <a:off x="7542113" y="4125289"/>
            <a:ext cx="2822343" cy="2210390"/>
            <a:chOff x="7542113" y="4125289"/>
            <a:chExt cx="2822343" cy="2210390"/>
          </a:xfrm>
        </p:grpSpPr>
        <p:sp>
          <p:nvSpPr>
            <p:cNvPr id="54" name="Flecha: a la derecha 53">
              <a:extLst>
                <a:ext uri="{FF2B5EF4-FFF2-40B4-BE49-F238E27FC236}">
                  <a16:creationId xmlns:a16="http://schemas.microsoft.com/office/drawing/2014/main" id="{DCA31C61-862A-C23D-BD89-71043B9D18E1}"/>
                </a:ext>
              </a:extLst>
            </p:cNvPr>
            <p:cNvSpPr/>
            <p:nvPr/>
          </p:nvSpPr>
          <p:spPr>
            <a:xfrm rot="6300353">
              <a:off x="9435030" y="4621461"/>
              <a:ext cx="1425597" cy="433254"/>
            </a:xfrm>
            <a:prstGeom prst="rightArrow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Rectángulo 54">
              <a:extLst>
                <a:ext uri="{FF2B5EF4-FFF2-40B4-BE49-F238E27FC236}">
                  <a16:creationId xmlns:a16="http://schemas.microsoft.com/office/drawing/2014/main" id="{0118BEC6-BD01-F6F2-7B03-BF631C58FC75}"/>
                </a:ext>
              </a:extLst>
            </p:cNvPr>
            <p:cNvSpPr/>
            <p:nvPr/>
          </p:nvSpPr>
          <p:spPr>
            <a:xfrm>
              <a:off x="7951198" y="5604159"/>
              <a:ext cx="1980000" cy="731520"/>
            </a:xfrm>
            <a:prstGeom prst="rect">
              <a:avLst/>
            </a:prstGeom>
            <a:solidFill>
              <a:srgbClr val="FCEDE4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2"/>
                  </a:solidFill>
                </a:rPr>
                <a:t>Update database with new findings</a:t>
              </a:r>
            </a:p>
          </p:txBody>
        </p:sp>
        <p:sp>
          <p:nvSpPr>
            <p:cNvPr id="56" name="Flecha: a la derecha 55">
              <a:extLst>
                <a:ext uri="{FF2B5EF4-FFF2-40B4-BE49-F238E27FC236}">
                  <a16:creationId xmlns:a16="http://schemas.microsoft.com/office/drawing/2014/main" id="{E65D26D4-8700-F639-9BE8-DBEBC363D377}"/>
                </a:ext>
              </a:extLst>
            </p:cNvPr>
            <p:cNvSpPr/>
            <p:nvPr/>
          </p:nvSpPr>
          <p:spPr>
            <a:xfrm rot="3951792">
              <a:off x="7310905" y="4890907"/>
              <a:ext cx="895670" cy="433254"/>
            </a:xfrm>
            <a:prstGeom prst="rightArrow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7" name="Grupo 66">
            <a:extLst>
              <a:ext uri="{FF2B5EF4-FFF2-40B4-BE49-F238E27FC236}">
                <a16:creationId xmlns:a16="http://schemas.microsoft.com/office/drawing/2014/main" id="{2867D532-C94A-A035-80FF-084B570D7BE9}"/>
              </a:ext>
            </a:extLst>
          </p:cNvPr>
          <p:cNvGrpSpPr/>
          <p:nvPr/>
        </p:nvGrpSpPr>
        <p:grpSpPr>
          <a:xfrm>
            <a:off x="5105999" y="5604159"/>
            <a:ext cx="2845199" cy="731520"/>
            <a:chOff x="5105999" y="5604159"/>
            <a:chExt cx="2845199" cy="731520"/>
          </a:xfrm>
        </p:grpSpPr>
        <p:sp>
          <p:nvSpPr>
            <p:cNvPr id="57" name="Rectángulo 56">
              <a:extLst>
                <a:ext uri="{FF2B5EF4-FFF2-40B4-BE49-F238E27FC236}">
                  <a16:creationId xmlns:a16="http://schemas.microsoft.com/office/drawing/2014/main" id="{ECFADFD5-85D3-78E7-DC10-77455E010A7A}"/>
                </a:ext>
              </a:extLst>
            </p:cNvPr>
            <p:cNvSpPr/>
            <p:nvPr/>
          </p:nvSpPr>
          <p:spPr>
            <a:xfrm>
              <a:off x="5105999" y="5604159"/>
              <a:ext cx="1980000" cy="7315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0" dirty="0">
                  <a:solidFill>
                    <a:schemeClr val="tx1"/>
                  </a:solidFill>
                </a:rPr>
                <a:t>Notify stakeholders</a:t>
              </a:r>
            </a:p>
          </p:txBody>
        </p:sp>
        <p:cxnSp>
          <p:nvCxnSpPr>
            <p:cNvPr id="60" name="Conector recto de flecha 59">
              <a:extLst>
                <a:ext uri="{FF2B5EF4-FFF2-40B4-BE49-F238E27FC236}">
                  <a16:creationId xmlns:a16="http://schemas.microsoft.com/office/drawing/2014/main" id="{EE8CEBD9-6575-42F8-FE0E-47C68D2D50F0}"/>
                </a:ext>
              </a:extLst>
            </p:cNvPr>
            <p:cNvCxnSpPr>
              <a:cxnSpLocks/>
              <a:stCxn id="55" idx="1"/>
              <a:endCxn id="57" idx="3"/>
            </p:cNvCxnSpPr>
            <p:nvPr/>
          </p:nvCxnSpPr>
          <p:spPr>
            <a:xfrm flipH="1">
              <a:off x="7085999" y="5969919"/>
              <a:ext cx="865199" cy="0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" name="Rectángulo 67">
            <a:extLst>
              <a:ext uri="{FF2B5EF4-FFF2-40B4-BE49-F238E27FC236}">
                <a16:creationId xmlns:a16="http://schemas.microsoft.com/office/drawing/2014/main" id="{87112EF2-4B4B-8220-E60C-A17A1D42E9BC}"/>
              </a:ext>
            </a:extLst>
          </p:cNvPr>
          <p:cNvSpPr/>
          <p:nvPr/>
        </p:nvSpPr>
        <p:spPr>
          <a:xfrm>
            <a:off x="2131672" y="3799118"/>
            <a:ext cx="761630" cy="281388"/>
          </a:xfrm>
          <a:prstGeom prst="rect">
            <a:avLst/>
          </a:prstGeom>
          <a:solidFill>
            <a:srgbClr val="FFE7E7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noProof="0" dirty="0">
                <a:solidFill>
                  <a:srgbClr val="FF0000"/>
                </a:solidFill>
              </a:rPr>
              <a:t>Gmail</a:t>
            </a:r>
          </a:p>
        </p:txBody>
      </p:sp>
      <p:sp>
        <p:nvSpPr>
          <p:cNvPr id="69" name="Rectángulo 68">
            <a:extLst>
              <a:ext uri="{FF2B5EF4-FFF2-40B4-BE49-F238E27FC236}">
                <a16:creationId xmlns:a16="http://schemas.microsoft.com/office/drawing/2014/main" id="{F2B02DE6-E10A-F75F-4BAE-08DDC438A9EC}"/>
              </a:ext>
            </a:extLst>
          </p:cNvPr>
          <p:cNvSpPr/>
          <p:nvPr/>
        </p:nvSpPr>
        <p:spPr>
          <a:xfrm>
            <a:off x="4976871" y="3268320"/>
            <a:ext cx="761630" cy="281388"/>
          </a:xfrm>
          <a:prstGeom prst="rect">
            <a:avLst/>
          </a:prstGeom>
          <a:solidFill>
            <a:srgbClr val="E7F7FD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noProof="0" dirty="0">
                <a:solidFill>
                  <a:srgbClr val="00B0F0"/>
                </a:solidFill>
              </a:rPr>
              <a:t>ChatGPT</a:t>
            </a:r>
          </a:p>
        </p:txBody>
      </p:sp>
      <p:sp>
        <p:nvSpPr>
          <p:cNvPr id="70" name="Rectángulo 69">
            <a:extLst>
              <a:ext uri="{FF2B5EF4-FFF2-40B4-BE49-F238E27FC236}">
                <a16:creationId xmlns:a16="http://schemas.microsoft.com/office/drawing/2014/main" id="{5AC2E441-1DA3-82C6-E2FB-8E3FDF150D3B}"/>
              </a:ext>
            </a:extLst>
          </p:cNvPr>
          <p:cNvSpPr/>
          <p:nvPr/>
        </p:nvSpPr>
        <p:spPr>
          <a:xfrm>
            <a:off x="7822071" y="2201836"/>
            <a:ext cx="761630" cy="281388"/>
          </a:xfrm>
          <a:prstGeom prst="rect">
            <a:avLst/>
          </a:prstGeom>
          <a:solidFill>
            <a:srgbClr val="DFF4D8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noProof="0" dirty="0">
                <a:solidFill>
                  <a:srgbClr val="00B050"/>
                </a:solidFill>
              </a:rPr>
              <a:t>Drive</a:t>
            </a:r>
          </a:p>
        </p:txBody>
      </p:sp>
      <p:sp>
        <p:nvSpPr>
          <p:cNvPr id="71" name="Rectángulo 70">
            <a:extLst>
              <a:ext uri="{FF2B5EF4-FFF2-40B4-BE49-F238E27FC236}">
                <a16:creationId xmlns:a16="http://schemas.microsoft.com/office/drawing/2014/main" id="{7EE77857-0A42-6FE0-7D58-EE6436CB0819}"/>
              </a:ext>
            </a:extLst>
          </p:cNvPr>
          <p:cNvSpPr/>
          <p:nvPr/>
        </p:nvSpPr>
        <p:spPr>
          <a:xfrm>
            <a:off x="6399471" y="6129393"/>
            <a:ext cx="761630" cy="281388"/>
          </a:xfrm>
          <a:prstGeom prst="rect">
            <a:avLst/>
          </a:prstGeom>
          <a:solidFill>
            <a:srgbClr val="FFE7E7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noProof="0" dirty="0">
                <a:solidFill>
                  <a:schemeClr val="accent5"/>
                </a:solidFill>
              </a:rPr>
              <a:t>Slack</a:t>
            </a:r>
          </a:p>
        </p:txBody>
      </p:sp>
      <p:sp>
        <p:nvSpPr>
          <p:cNvPr id="76" name="Rectángulo 75">
            <a:extLst>
              <a:ext uri="{FF2B5EF4-FFF2-40B4-BE49-F238E27FC236}">
                <a16:creationId xmlns:a16="http://schemas.microsoft.com/office/drawing/2014/main" id="{60F725BD-5292-147B-1FC9-20A731BAD73E}"/>
              </a:ext>
            </a:extLst>
          </p:cNvPr>
          <p:cNvSpPr/>
          <p:nvPr/>
        </p:nvSpPr>
        <p:spPr>
          <a:xfrm>
            <a:off x="7822071" y="4327801"/>
            <a:ext cx="761630" cy="281388"/>
          </a:xfrm>
          <a:prstGeom prst="rect">
            <a:avLst/>
          </a:prstGeom>
          <a:solidFill>
            <a:srgbClr val="E7F7FD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noProof="0" dirty="0">
                <a:solidFill>
                  <a:srgbClr val="00B0F0"/>
                </a:solidFill>
              </a:rPr>
              <a:t>ChatGPT</a:t>
            </a:r>
          </a:p>
        </p:txBody>
      </p:sp>
      <p:sp>
        <p:nvSpPr>
          <p:cNvPr id="80" name="Rectángulo 79">
            <a:extLst>
              <a:ext uri="{FF2B5EF4-FFF2-40B4-BE49-F238E27FC236}">
                <a16:creationId xmlns:a16="http://schemas.microsoft.com/office/drawing/2014/main" id="{8922BC4A-B60D-72D9-045D-091D8C02FDA4}"/>
              </a:ext>
            </a:extLst>
          </p:cNvPr>
          <p:cNvSpPr/>
          <p:nvPr/>
        </p:nvSpPr>
        <p:spPr>
          <a:xfrm>
            <a:off x="9244670" y="6129393"/>
            <a:ext cx="761630" cy="281388"/>
          </a:xfrm>
          <a:prstGeom prst="rect">
            <a:avLst/>
          </a:prstGeom>
          <a:solidFill>
            <a:srgbClr val="E7F7FD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noProof="0" dirty="0">
                <a:solidFill>
                  <a:srgbClr val="00B0F0"/>
                </a:solidFill>
              </a:rPr>
              <a:t>ChatGPT</a:t>
            </a:r>
          </a:p>
        </p:txBody>
      </p:sp>
      <p:sp>
        <p:nvSpPr>
          <p:cNvPr id="82" name="Rectángulo 81">
            <a:extLst>
              <a:ext uri="{FF2B5EF4-FFF2-40B4-BE49-F238E27FC236}">
                <a16:creationId xmlns:a16="http://schemas.microsoft.com/office/drawing/2014/main" id="{ED48E71D-49B9-C7BB-D2E3-6C0AA97AC296}"/>
              </a:ext>
            </a:extLst>
          </p:cNvPr>
          <p:cNvSpPr/>
          <p:nvPr/>
        </p:nvSpPr>
        <p:spPr>
          <a:xfrm>
            <a:off x="10667270" y="2743086"/>
            <a:ext cx="761630" cy="281388"/>
          </a:xfrm>
          <a:prstGeom prst="rect">
            <a:avLst/>
          </a:prstGeom>
          <a:solidFill>
            <a:srgbClr val="DFF4D8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noProof="0" dirty="0">
                <a:solidFill>
                  <a:srgbClr val="00B050"/>
                </a:solidFill>
              </a:rPr>
              <a:t>Drive</a:t>
            </a:r>
          </a:p>
        </p:txBody>
      </p:sp>
      <p:sp>
        <p:nvSpPr>
          <p:cNvPr id="84" name="Rectángulo 83">
            <a:extLst>
              <a:ext uri="{FF2B5EF4-FFF2-40B4-BE49-F238E27FC236}">
                <a16:creationId xmlns:a16="http://schemas.microsoft.com/office/drawing/2014/main" id="{F6361140-71CC-5D91-2A1F-8677776D25A8}"/>
              </a:ext>
            </a:extLst>
          </p:cNvPr>
          <p:cNvSpPr/>
          <p:nvPr/>
        </p:nvSpPr>
        <p:spPr>
          <a:xfrm>
            <a:off x="10057627" y="6129393"/>
            <a:ext cx="761630" cy="281388"/>
          </a:xfrm>
          <a:prstGeom prst="rect">
            <a:avLst/>
          </a:prstGeom>
          <a:solidFill>
            <a:srgbClr val="DFF4D8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noProof="0" dirty="0">
                <a:solidFill>
                  <a:srgbClr val="00B050"/>
                </a:solidFill>
              </a:rPr>
              <a:t>Drive</a:t>
            </a:r>
          </a:p>
        </p:txBody>
      </p:sp>
      <p:sp>
        <p:nvSpPr>
          <p:cNvPr id="86" name="Rectángulo 85">
            <a:extLst>
              <a:ext uri="{FF2B5EF4-FFF2-40B4-BE49-F238E27FC236}">
                <a16:creationId xmlns:a16="http://schemas.microsoft.com/office/drawing/2014/main" id="{DC7D7C32-AF82-697E-C5F8-D6FC599DA30F}"/>
              </a:ext>
            </a:extLst>
          </p:cNvPr>
          <p:cNvSpPr/>
          <p:nvPr/>
        </p:nvSpPr>
        <p:spPr>
          <a:xfrm>
            <a:off x="7822070" y="3271908"/>
            <a:ext cx="761630" cy="281388"/>
          </a:xfrm>
          <a:prstGeom prst="rect">
            <a:avLst/>
          </a:prstGeom>
          <a:solidFill>
            <a:srgbClr val="E7F7FD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noProof="0" dirty="0">
                <a:solidFill>
                  <a:srgbClr val="00B0F0"/>
                </a:solidFill>
              </a:rPr>
              <a:t>ChatGPT</a:t>
            </a:r>
          </a:p>
        </p:txBody>
      </p:sp>
    </p:spTree>
    <p:extLst>
      <p:ext uri="{BB962C8B-B14F-4D97-AF65-F5344CB8AC3E}">
        <p14:creationId xmlns:p14="http://schemas.microsoft.com/office/powerpoint/2010/main" val="494715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69" grpId="0" animBg="1"/>
      <p:bldP spid="70" grpId="0" animBg="1"/>
      <p:bldP spid="71" grpId="0" animBg="1"/>
      <p:bldP spid="76" grpId="0" animBg="1"/>
      <p:bldP spid="80" grpId="0" animBg="1"/>
      <p:bldP spid="82" grpId="0" animBg="1"/>
      <p:bldP spid="84" grpId="0" animBg="1"/>
      <p:bldP spid="8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9E4651-AEE5-8E42-5B80-EFE4C0BC0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Example - Input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4ABD613-72A1-DF66-96E4-EE01FBA6F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258" y="1509588"/>
            <a:ext cx="7049484" cy="245779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14" name="Grupo 13">
            <a:extLst>
              <a:ext uri="{FF2B5EF4-FFF2-40B4-BE49-F238E27FC236}">
                <a16:creationId xmlns:a16="http://schemas.microsoft.com/office/drawing/2014/main" id="{38C98557-F45D-DDB4-FBA0-B14E4F872829}"/>
              </a:ext>
            </a:extLst>
          </p:cNvPr>
          <p:cNvGrpSpPr/>
          <p:nvPr/>
        </p:nvGrpSpPr>
        <p:grpSpPr>
          <a:xfrm>
            <a:off x="1299902" y="4332875"/>
            <a:ext cx="9592196" cy="2160000"/>
            <a:chOff x="1231210" y="4332875"/>
            <a:chExt cx="9592196" cy="2160000"/>
          </a:xfrm>
        </p:grpSpPr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81A670BA-504D-E126-00EA-018ED21E95B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574" r="19286"/>
            <a:stretch>
              <a:fillRect/>
            </a:stretch>
          </p:blipFill>
          <p:spPr>
            <a:xfrm>
              <a:off x="1231210" y="4332875"/>
              <a:ext cx="2880000" cy="2160000"/>
            </a:xfrm>
            <a:prstGeom prst="rect">
              <a:avLst/>
            </a:prstGeom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6863974B-2AC0-2185-604A-887EBB5C406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586" t="12410" r="6398" b="2234"/>
            <a:stretch>
              <a:fillRect/>
            </a:stretch>
          </p:blipFill>
          <p:spPr>
            <a:xfrm>
              <a:off x="4587308" y="4332875"/>
              <a:ext cx="2880000" cy="2160000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A8802CF9-C383-8563-B0A6-9B1F4303BCE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3" r="12255"/>
            <a:stretch>
              <a:fillRect/>
            </a:stretch>
          </p:blipFill>
          <p:spPr>
            <a:xfrm>
              <a:off x="7943406" y="4332875"/>
              <a:ext cx="2880000" cy="2160000"/>
            </a:xfrm>
            <a:prstGeom prst="rect">
              <a:avLst/>
            </a:prstGeom>
          </p:spPr>
        </p:pic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E1082EE4-E69E-14BA-CAC9-688CFDE550BC}"/>
              </a:ext>
            </a:extLst>
          </p:cNvPr>
          <p:cNvGrpSpPr/>
          <p:nvPr/>
        </p:nvGrpSpPr>
        <p:grpSpPr>
          <a:xfrm>
            <a:off x="2646680" y="3718559"/>
            <a:ext cx="7594600" cy="980441"/>
            <a:chOff x="2646680" y="3718559"/>
            <a:chExt cx="7594600" cy="980441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EC984A9F-17F4-A465-9830-C5B18B5A4AFF}"/>
                </a:ext>
              </a:extLst>
            </p:cNvPr>
            <p:cNvSpPr/>
            <p:nvPr/>
          </p:nvSpPr>
          <p:spPr>
            <a:xfrm>
              <a:off x="2646680" y="3718559"/>
              <a:ext cx="6913880" cy="187961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cxnSp>
          <p:nvCxnSpPr>
            <p:cNvPr id="19" name="Conector recto de flecha 18">
              <a:extLst>
                <a:ext uri="{FF2B5EF4-FFF2-40B4-BE49-F238E27FC236}">
                  <a16:creationId xmlns:a16="http://schemas.microsoft.com/office/drawing/2014/main" id="{127DBA94-130B-857A-274E-B78060641D2D}"/>
                </a:ext>
              </a:extLst>
            </p:cNvPr>
            <p:cNvCxnSpPr>
              <a:cxnSpLocks/>
            </p:cNvCxnSpPr>
            <p:nvPr/>
          </p:nvCxnSpPr>
          <p:spPr>
            <a:xfrm>
              <a:off x="9560560" y="3812539"/>
              <a:ext cx="680720" cy="886461"/>
            </a:xfrm>
            <a:prstGeom prst="straightConnector1">
              <a:avLst/>
            </a:prstGeom>
            <a:ln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35665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ACA905-5D56-9042-86A1-DA36983C8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– Database before and after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4DA03E8-68B9-3076-A55B-6C55B0A70E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24" t="23162" r="52247" b="15733"/>
          <a:stretch>
            <a:fillRect/>
          </a:stretch>
        </p:blipFill>
        <p:spPr>
          <a:xfrm>
            <a:off x="2002418" y="1690688"/>
            <a:ext cx="3819646" cy="395775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937ED51-569C-946B-F639-37376C9710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424" t="23162" r="52247" b="4475"/>
          <a:stretch>
            <a:fillRect/>
          </a:stretch>
        </p:blipFill>
        <p:spPr>
          <a:xfrm>
            <a:off x="6369936" y="1690688"/>
            <a:ext cx="3819646" cy="4686963"/>
          </a:xfrm>
          <a:prstGeom prst="rect">
            <a:avLst/>
          </a:prstGeom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6362F1FB-4CDF-5D51-C02C-0430C4B57CE2}"/>
              </a:ext>
            </a:extLst>
          </p:cNvPr>
          <p:cNvGrpSpPr/>
          <p:nvPr/>
        </p:nvGrpSpPr>
        <p:grpSpPr>
          <a:xfrm>
            <a:off x="6647688" y="3351531"/>
            <a:ext cx="1749552" cy="2562344"/>
            <a:chOff x="6647688" y="3351531"/>
            <a:chExt cx="1749552" cy="2562344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9A50DBF1-0AD5-77FE-9593-7DE22D10C420}"/>
                </a:ext>
              </a:extLst>
            </p:cNvPr>
            <p:cNvSpPr/>
            <p:nvPr/>
          </p:nvSpPr>
          <p:spPr>
            <a:xfrm>
              <a:off x="6647688" y="3351531"/>
              <a:ext cx="1749552" cy="275589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008C16AE-48DC-C0F8-3579-394388C61102}"/>
                </a:ext>
              </a:extLst>
            </p:cNvPr>
            <p:cNvSpPr/>
            <p:nvPr/>
          </p:nvSpPr>
          <p:spPr>
            <a:xfrm>
              <a:off x="6647688" y="3727451"/>
              <a:ext cx="1749552" cy="275589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3031E769-D7E7-8425-B517-AB94609FD114}"/>
                </a:ext>
              </a:extLst>
            </p:cNvPr>
            <p:cNvSpPr/>
            <p:nvPr/>
          </p:nvSpPr>
          <p:spPr>
            <a:xfrm>
              <a:off x="6647688" y="5638286"/>
              <a:ext cx="1515872" cy="275589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6D503B8-1499-FD7D-560B-FBD2E0C9F823}"/>
              </a:ext>
            </a:extLst>
          </p:cNvPr>
          <p:cNvSpPr/>
          <p:nvPr/>
        </p:nvSpPr>
        <p:spPr>
          <a:xfrm>
            <a:off x="2281428" y="3351531"/>
            <a:ext cx="1749552" cy="27558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55396703-7A1C-C8DA-13D7-920561C9145F}"/>
              </a:ext>
            </a:extLst>
          </p:cNvPr>
          <p:cNvGrpSpPr/>
          <p:nvPr/>
        </p:nvGrpSpPr>
        <p:grpSpPr>
          <a:xfrm>
            <a:off x="2281428" y="2962911"/>
            <a:ext cx="1802892" cy="2563810"/>
            <a:chOff x="2281428" y="2962911"/>
            <a:chExt cx="1802892" cy="2563810"/>
          </a:xfrm>
        </p:grpSpPr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3ED607E3-A868-702F-DF89-FE88DD2F4DCD}"/>
                </a:ext>
              </a:extLst>
            </p:cNvPr>
            <p:cNvSpPr/>
            <p:nvPr/>
          </p:nvSpPr>
          <p:spPr>
            <a:xfrm>
              <a:off x="2281428" y="2962911"/>
              <a:ext cx="1802892" cy="275589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AA6DD555-8B11-8B32-95F1-7AB1D75BB6CB}"/>
                </a:ext>
              </a:extLst>
            </p:cNvPr>
            <p:cNvSpPr/>
            <p:nvPr/>
          </p:nvSpPr>
          <p:spPr>
            <a:xfrm>
              <a:off x="2281428" y="5251132"/>
              <a:ext cx="1627632" cy="275589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A2387EDC-31C9-2D7F-6939-76183037097C}"/>
              </a:ext>
            </a:extLst>
          </p:cNvPr>
          <p:cNvGrpSpPr/>
          <p:nvPr/>
        </p:nvGrpSpPr>
        <p:grpSpPr>
          <a:xfrm>
            <a:off x="6647688" y="2962911"/>
            <a:ext cx="1802892" cy="3320646"/>
            <a:chOff x="6647688" y="2962911"/>
            <a:chExt cx="1802892" cy="3320646"/>
          </a:xfrm>
        </p:grpSpPr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F77A53CD-2A10-D171-3003-613BA313BE41}"/>
                </a:ext>
              </a:extLst>
            </p:cNvPr>
            <p:cNvSpPr/>
            <p:nvPr/>
          </p:nvSpPr>
          <p:spPr>
            <a:xfrm>
              <a:off x="6647688" y="2962911"/>
              <a:ext cx="1802892" cy="275589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567FF382-D718-37A6-DC61-DA4F03F9DE9F}"/>
                </a:ext>
              </a:extLst>
            </p:cNvPr>
            <p:cNvSpPr/>
            <p:nvPr/>
          </p:nvSpPr>
          <p:spPr>
            <a:xfrm>
              <a:off x="6647688" y="6007968"/>
              <a:ext cx="1627632" cy="275589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796812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17A42B-86F5-9B10-7EF9-3BB9F5DE5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Example - Output</a:t>
            </a: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30B5E59C-B8E9-AC5D-8E2E-01E3434CF669}"/>
              </a:ext>
            </a:extLst>
          </p:cNvPr>
          <p:cNvGrpSpPr/>
          <p:nvPr/>
        </p:nvGrpSpPr>
        <p:grpSpPr>
          <a:xfrm>
            <a:off x="1442720" y="1422400"/>
            <a:ext cx="9306560" cy="5313680"/>
            <a:chOff x="1381760" y="609600"/>
            <a:chExt cx="9306560" cy="5313680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73E41151-E86F-B847-4930-60B799688A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1333" t="31098" r="12333" b="23098"/>
            <a:stretch>
              <a:fillRect/>
            </a:stretch>
          </p:blipFill>
          <p:spPr>
            <a:xfrm>
              <a:off x="1381760" y="609600"/>
              <a:ext cx="9306560" cy="2966720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1C821D11-FB79-1178-F034-B07E9C456C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1333" t="39098" r="12333" b="24667"/>
            <a:stretch>
              <a:fillRect/>
            </a:stretch>
          </p:blipFill>
          <p:spPr>
            <a:xfrm>
              <a:off x="1381760" y="3576320"/>
              <a:ext cx="9306560" cy="2346960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25" name="Grupo 24">
            <a:extLst>
              <a:ext uri="{FF2B5EF4-FFF2-40B4-BE49-F238E27FC236}">
                <a16:creationId xmlns:a16="http://schemas.microsoft.com/office/drawing/2014/main" id="{F8530D4D-BF1D-7EED-D858-A1A572B51BEC}"/>
              </a:ext>
            </a:extLst>
          </p:cNvPr>
          <p:cNvGrpSpPr/>
          <p:nvPr/>
        </p:nvGrpSpPr>
        <p:grpSpPr>
          <a:xfrm>
            <a:off x="1542288" y="3409808"/>
            <a:ext cx="9107424" cy="1200329"/>
            <a:chOff x="1542288" y="3409808"/>
            <a:chExt cx="9107424" cy="120032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2A23327B-3A9C-E919-E202-3276B5F67E6E}"/>
                </a:ext>
              </a:extLst>
            </p:cNvPr>
            <p:cNvSpPr/>
            <p:nvPr/>
          </p:nvSpPr>
          <p:spPr>
            <a:xfrm>
              <a:off x="1542288" y="3713988"/>
              <a:ext cx="4238752" cy="1080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382CB8DA-987F-7A0F-53AB-4FA5745846E5}"/>
                </a:ext>
              </a:extLst>
            </p:cNvPr>
            <p:cNvSpPr/>
            <p:nvPr/>
          </p:nvSpPr>
          <p:spPr>
            <a:xfrm>
              <a:off x="1542288" y="3971036"/>
              <a:ext cx="3898392" cy="1080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54BB53A5-19B6-9198-5C25-C9962E0AF188}"/>
                </a:ext>
              </a:extLst>
            </p:cNvPr>
            <p:cNvSpPr txBox="1"/>
            <p:nvPr/>
          </p:nvSpPr>
          <p:spPr>
            <a:xfrm>
              <a:off x="6311394" y="3409808"/>
              <a:ext cx="433831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noProof="0" dirty="0">
                  <a:solidFill>
                    <a:srgbClr val="FF0000"/>
                  </a:solidFill>
                </a:rPr>
                <a:t>Improper wheel alignment, especially toe/camber misalignment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noProof="0" dirty="0">
                  <a:solidFill>
                    <a:srgbClr val="FF0000"/>
                  </a:solidFill>
                </a:rPr>
                <a:t>High highway mileage with consistent straight-line wear</a:t>
              </a:r>
            </a:p>
          </p:txBody>
        </p:sp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78755EFC-9A29-1EF5-E217-998DBC601A22}"/>
              </a:ext>
            </a:extLst>
          </p:cNvPr>
          <p:cNvGrpSpPr/>
          <p:nvPr/>
        </p:nvGrpSpPr>
        <p:grpSpPr>
          <a:xfrm>
            <a:off x="1542288" y="5405927"/>
            <a:ext cx="9107424" cy="923330"/>
            <a:chOff x="1542288" y="5405927"/>
            <a:chExt cx="9107424" cy="923330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E2CC0D92-4EE4-0A58-873D-A7130D0A3756}"/>
                </a:ext>
              </a:extLst>
            </p:cNvPr>
            <p:cNvSpPr/>
            <p:nvPr/>
          </p:nvSpPr>
          <p:spPr>
            <a:xfrm>
              <a:off x="1542288" y="6031484"/>
              <a:ext cx="3832352" cy="108000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1EC504CC-39B5-8B88-0AAF-256850424172}"/>
                </a:ext>
              </a:extLst>
            </p:cNvPr>
            <p:cNvSpPr/>
            <p:nvPr/>
          </p:nvSpPr>
          <p:spPr>
            <a:xfrm>
              <a:off x="1542288" y="6156434"/>
              <a:ext cx="2699512" cy="108000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F0B95DAA-28BD-85D0-4E71-8C2012F56237}"/>
                </a:ext>
              </a:extLst>
            </p:cNvPr>
            <p:cNvSpPr txBox="1"/>
            <p:nvPr/>
          </p:nvSpPr>
          <p:spPr>
            <a:xfrm>
              <a:off x="6311394" y="5405927"/>
              <a:ext cx="433831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noProof="0" dirty="0">
                  <a:solidFill>
                    <a:srgbClr val="00B050"/>
                  </a:solidFill>
                </a:rPr>
                <a:t>Perform regular wheel alignment checks and corrections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noProof="0" dirty="0">
                  <a:solidFill>
                    <a:srgbClr val="00B050"/>
                  </a:solidFill>
                </a:rPr>
                <a:t>Rotate tires at recommended intervals</a:t>
              </a: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1B9B192F-BE32-90E9-E718-37DE950607DF}"/>
              </a:ext>
            </a:extLst>
          </p:cNvPr>
          <p:cNvGrpSpPr/>
          <p:nvPr/>
        </p:nvGrpSpPr>
        <p:grpSpPr>
          <a:xfrm>
            <a:off x="1542288" y="1107289"/>
            <a:ext cx="8606943" cy="1467055"/>
            <a:chOff x="1542288" y="1107289"/>
            <a:chExt cx="8606943" cy="1467055"/>
          </a:xfrm>
        </p:grpSpPr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D420D197-D0D4-1CF1-84B2-FC38DC5E575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72068" y="1107289"/>
              <a:ext cx="3677163" cy="1467055"/>
            </a:xfrm>
            <a:prstGeom prst="rect">
              <a:avLst/>
            </a:prstGeom>
            <a:ln w="12700">
              <a:solidFill>
                <a:srgbClr val="00B0F0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9925D4D5-5F8E-CBFD-6597-BD065FC6921A}"/>
                </a:ext>
              </a:extLst>
            </p:cNvPr>
            <p:cNvSpPr/>
            <p:nvPr/>
          </p:nvSpPr>
          <p:spPr>
            <a:xfrm>
              <a:off x="1542288" y="1422400"/>
              <a:ext cx="2450592" cy="1066800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cxnSp>
          <p:nvCxnSpPr>
            <p:cNvPr id="20" name="Conector recto de flecha 19">
              <a:extLst>
                <a:ext uri="{FF2B5EF4-FFF2-40B4-BE49-F238E27FC236}">
                  <a16:creationId xmlns:a16="http://schemas.microsoft.com/office/drawing/2014/main" id="{847776A8-484F-9C38-5F6A-E140CAC37A68}"/>
                </a:ext>
              </a:extLst>
            </p:cNvPr>
            <p:cNvCxnSpPr>
              <a:cxnSpLocks/>
              <a:stCxn id="18" idx="3"/>
              <a:endCxn id="17" idx="1"/>
            </p:cNvCxnSpPr>
            <p:nvPr/>
          </p:nvCxnSpPr>
          <p:spPr>
            <a:xfrm flipV="1">
              <a:off x="3992880" y="1840817"/>
              <a:ext cx="2479188" cy="114983"/>
            </a:xfrm>
            <a:prstGeom prst="straightConnector1">
              <a:avLst/>
            </a:prstGeom>
            <a:ln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B472AFCD-1694-7CCD-44DD-7BFF50A72B9C}"/>
                </a:ext>
              </a:extLst>
            </p:cNvPr>
            <p:cNvSpPr txBox="1"/>
            <p:nvPr/>
          </p:nvSpPr>
          <p:spPr>
            <a:xfrm rot="21405278">
              <a:off x="4724399" y="1556446"/>
              <a:ext cx="9188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>
                  <a:solidFill>
                    <a:srgbClr val="00B0F0"/>
                  </a:solidFill>
                </a:rPr>
                <a:t>Update</a:t>
              </a:r>
            </a:p>
          </p:txBody>
        </p:sp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7F449FA3-BA8B-0598-BC4B-12013D804D9F}"/>
              </a:ext>
            </a:extLst>
          </p:cNvPr>
          <p:cNvGrpSpPr/>
          <p:nvPr/>
        </p:nvGrpSpPr>
        <p:grpSpPr>
          <a:xfrm>
            <a:off x="3137569" y="2059825"/>
            <a:ext cx="5916862" cy="2738352"/>
            <a:chOff x="-2929999" y="2545588"/>
            <a:chExt cx="4239006" cy="196183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18625E8A-C830-F0B0-2259-D74948303D2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6030" t="51418" r="29200" b="27623"/>
            <a:stretch>
              <a:fillRect/>
            </a:stretch>
          </p:blipFill>
          <p:spPr>
            <a:xfrm>
              <a:off x="-2929999" y="2545588"/>
              <a:ext cx="4239006" cy="1325563"/>
            </a:xfrm>
            <a:prstGeom prst="rect">
              <a:avLst/>
            </a:prstGeom>
          </p:spPr>
        </p:pic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34A176CC-C802-1F71-3603-352F1D079B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6032" t="61807" r="29199" b="28133"/>
            <a:stretch>
              <a:fillRect/>
            </a:stretch>
          </p:blipFill>
          <p:spPr>
            <a:xfrm>
              <a:off x="-2929999" y="3871151"/>
              <a:ext cx="4239006" cy="6362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43327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429190-FAE8-FCFF-2DC7-6F9E1A8B2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Current limitations / Assumptions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B0231C-C522-B643-10BC-17ED3E280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Access through dedicated address that receives only this inputs (example: test_reports@company.com).</a:t>
            </a:r>
          </a:p>
          <a:p>
            <a:r>
              <a:rPr lang="en-US" noProof="0" dirty="0"/>
              <a:t>The issue descriptions in the report are detailed enough for a meaningful classification (type of damage and affected part should be qualitatively identifiable).</a:t>
            </a:r>
          </a:p>
        </p:txBody>
      </p:sp>
    </p:spTree>
    <p:extLst>
      <p:ext uri="{BB962C8B-B14F-4D97-AF65-F5344CB8AC3E}">
        <p14:creationId xmlns:p14="http://schemas.microsoft.com/office/powerpoint/2010/main" val="1602240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456101-FCA5-0DFA-F4FB-DD7D283E2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Possible next steps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931321-5D8F-424A-BAC3-1B53D0EB4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</a:t>
            </a:r>
            <a:r>
              <a:rPr lang="en-US" noProof="0" dirty="0" err="1"/>
              <a:t>ilter</a:t>
            </a:r>
            <a:r>
              <a:rPr lang="en-US" noProof="0" dirty="0"/>
              <a:t> out non-related emails</a:t>
            </a:r>
          </a:p>
          <a:p>
            <a:pPr lvl="1"/>
            <a:r>
              <a:rPr lang="en-US" noProof="0" dirty="0"/>
              <a:t>Would enable using the tool from a personal address.</a:t>
            </a:r>
          </a:p>
          <a:p>
            <a:r>
              <a:rPr lang="en-US" noProof="0" dirty="0"/>
              <a:t>Filter out vague or unrelated descriptions like “damage to part X” or "test interruption because of rig malfunction“</a:t>
            </a:r>
          </a:p>
          <a:p>
            <a:pPr lvl="1"/>
            <a:r>
              <a:rPr lang="en-US" dirty="0"/>
              <a:t>A</a:t>
            </a:r>
            <a:r>
              <a:rPr lang="en-US" noProof="0" dirty="0" err="1"/>
              <a:t>sk</a:t>
            </a:r>
            <a:r>
              <a:rPr lang="en-US" noProof="0" dirty="0"/>
              <a:t> for further detail or manual classification).</a:t>
            </a:r>
          </a:p>
          <a:p>
            <a:r>
              <a:rPr lang="en-US" noProof="0" dirty="0"/>
              <a:t>Give the LLM</a:t>
            </a:r>
            <a:r>
              <a:rPr lang="en-US" dirty="0"/>
              <a:t>s context (RAG)</a:t>
            </a:r>
          </a:p>
          <a:p>
            <a:pPr lvl="1"/>
            <a:r>
              <a:rPr lang="en-US" dirty="0"/>
              <a:t>Test specifications, d</a:t>
            </a:r>
            <a:r>
              <a:rPr lang="en-US" noProof="0" dirty="0" err="1"/>
              <a:t>escriptions</a:t>
            </a:r>
            <a:r>
              <a:rPr lang="en-US" noProof="0" dirty="0"/>
              <a:t> of the parts…</a:t>
            </a:r>
          </a:p>
          <a:p>
            <a:r>
              <a:rPr lang="en-US" noProof="0" dirty="0"/>
              <a:t>Picture analysis with existing knowledge from previous issues</a:t>
            </a:r>
          </a:p>
          <a:p>
            <a:r>
              <a:rPr lang="en-US" dirty="0"/>
              <a:t>Use commercial reporting software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56345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D705B9-7444-CF98-5DAD-9DFFDAA3AE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Thank you for your attention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EE6413-5720-BADF-CE4F-C4116709E0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42570467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</TotalTime>
  <Words>345</Words>
  <Application>Microsoft Office PowerPoint</Application>
  <PresentationFormat>Panorámica</PresentationFormat>
  <Paragraphs>74</Paragraphs>
  <Slides>10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Tema de Office</vt:lpstr>
      <vt:lpstr>Automated processing of test results</vt:lpstr>
      <vt:lpstr>Workflow in my last job</vt:lpstr>
      <vt:lpstr>Problem with this manual workflow</vt:lpstr>
      <vt:lpstr>Automated approach (n8n)</vt:lpstr>
      <vt:lpstr>Example - Input</vt:lpstr>
      <vt:lpstr>Example – Database before and after</vt:lpstr>
      <vt:lpstr>Example - Output</vt:lpstr>
      <vt:lpstr>Current limitations / Assumptions</vt:lpstr>
      <vt:lpstr>Possible next steps</vt:lpstr>
      <vt:lpstr>Thank you for your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Carlos Martínez Boto</dc:creator>
  <cp:lastModifiedBy>Carlos Martínez Boto</cp:lastModifiedBy>
  <cp:revision>12</cp:revision>
  <dcterms:created xsi:type="dcterms:W3CDTF">2026-05-22T07:09:40Z</dcterms:created>
  <dcterms:modified xsi:type="dcterms:W3CDTF">2026-05-22T14:03:12Z</dcterms:modified>
</cp:coreProperties>
</file>